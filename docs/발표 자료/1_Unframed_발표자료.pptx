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오프닝 한 문장: ‘Unframed는 액자를 벗어난 명화를 다시 봉인하며 미술을 배우는 게임입니다.’ 제목 한 단어로 컨셉·목표·교육철학을 동시에 전달.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 루프 슬라이드. 4번 카드(자유 대화)가 강조된 이유를 말로: AI 대화가 게임 진행의 필수 관문이라 30점 융합성의 근거가 된다. 심사위원 Q&amp;A 대비 포인트.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UX 차별화 슬라이드. ‘설명하지 않는다, 환경이 말하게 한다’를 또박또박. 전진수·석혜정 위원이 반응할 지점. 디제시스 넛지로 길 잃음 방지까지 챙겼다는 점 강조.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전공별 기여. ‘이 사람이 없으면 안 되는 역할’ 프레이밍으로 융합성 30점을 직접 겨냥. AI 카드만 강조 색을 줘서 생성형 AI 활용을 부각.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생성형 AI 활용 = 별도 가산 항목. 시스템 프롬프트로 페르소나를 가둬 엉뚱한 답변(데모 리스크)을 막는다는 설계 의도까지 언급하면 신뢰도 상승.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MVP 범위로 현실성 어필: 모나리자 1종 완성 후 복제. 발표 데모는 모나리자 흐름 30초 영상으로. 저작권은 퍼블릭 도메인이라 안전.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2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914400"/>
            <a:ext cx="1828800" cy="2377440"/>
          </a:xfrm>
          <a:prstGeom prst="rect">
            <a:avLst/>
          </a:prstGeom>
          <a:solidFill>
            <a:srgbClr val="12121C">
              <a:alpha val="0"/>
            </a:srgbClr>
          </a:solidFill>
          <a:ln w="19050">
            <a:solidFill>
              <a:srgbClr val="3A3A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01200" y="3566160"/>
            <a:ext cx="1737360" cy="2286000"/>
          </a:xfrm>
          <a:prstGeom prst="rect">
            <a:avLst/>
          </a:prstGeom>
          <a:solidFill>
            <a:srgbClr val="12121C">
              <a:alpha val="0"/>
            </a:srgbClr>
          </a:solidFill>
          <a:ln w="19050">
            <a:solidFill>
              <a:srgbClr val="3A3A5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0" y="1097280"/>
            <a:ext cx="822960" cy="822960"/>
          </a:xfrm>
          <a:prstGeom prst="ellipse">
            <a:avLst/>
          </a:prstGeom>
          <a:solidFill>
            <a:srgbClr val="242438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97058" y="1335938"/>
            <a:ext cx="345643" cy="34564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0" y="19659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FD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◖ 자정의 미술관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914400" y="2331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4A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미드나잇 캠프 · 12팀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68680" y="269748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spc="200" kern="0" dirty="0">
                <a:solidFill>
                  <a:srgbClr val="EDE7D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UNFRAMED</a:t>
            </a:r>
            <a:endParaRPr lang="en-US" sz="9600" dirty="0"/>
          </a:p>
        </p:txBody>
      </p:sp>
      <p:sp>
        <p:nvSpPr>
          <p:cNvPr id="9" name="Text 6"/>
          <p:cNvSpPr/>
          <p:nvPr/>
        </p:nvSpPr>
        <p:spPr>
          <a:xfrm>
            <a:off x="914400" y="41605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i="1" dirty="0">
                <a:solidFill>
                  <a:srgbClr val="6FD6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틀을 벗어난 명화를, 다시 틀로.  설명하지 않는 미술관.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914400" y="4709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자정의 미술관에서 펼쳐지는 명화 포획 교육 게임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914400" y="5760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E7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과제 2 </a:t>
            </a:r>
            <a:pPr indent="0" marL="0">
              <a:buNone/>
            </a:pPr>
            <a:r>
              <a:rPr lang="en-US" sz="1300" dirty="0">
                <a:solidFill>
                  <a:srgbClr val="9B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유니티·언리얼을 활용한 교육 콘텐츠 개발 (AI 활용) · ㈜디아리움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B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4864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B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UNFRAMED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2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4A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772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DE7D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팀 개요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120640" cy="4480560"/>
          </a:xfrm>
          <a:prstGeom prst="roundRect">
            <a:avLst>
              <a:gd name="adj" fmla="val 1633"/>
            </a:avLst>
          </a:prstGeom>
          <a:solidFill>
            <a:srgbClr val="1C1C2B"/>
          </a:solidFill>
          <a:ln w="12700">
            <a:solidFill>
              <a:srgbClr val="3A3A52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116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4A85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UNFRAMED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914400" y="2606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12팀 · 멘토 이철우 강사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31546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FD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과제 분야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468880" y="31546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DE7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과제 2 — 교육 콘텐츠 개발 (AI 활용)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14400" y="375818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FD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후원 기업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468880" y="3758184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DE7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㈜디아리움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14400" y="436168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FD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엔진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468880" y="436168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DE7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Unreal Engine 5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14400" y="496519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FD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플랫폼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468880" y="4965192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DE7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 · 1인칭 (마우스 + 키보드)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14400" y="5568696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6FD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장르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468880" y="556869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DE7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교육 + 게임 (명화 포획·봉인)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035040" y="1691640"/>
            <a:ext cx="5486400" cy="4480560"/>
          </a:xfrm>
          <a:prstGeom prst="roundRect">
            <a:avLst>
              <a:gd name="adj" fmla="val 1633"/>
            </a:avLst>
          </a:prstGeom>
          <a:solidFill>
            <a:srgbClr val="1C1C2B"/>
          </a:solidFill>
          <a:ln w="12700">
            <a:solidFill>
              <a:srgbClr val="3A3A52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55080" y="2011680"/>
            <a:ext cx="548640" cy="548640"/>
          </a:xfrm>
          <a:prstGeom prst="ellipse">
            <a:avLst/>
          </a:prstGeom>
          <a:solidFill>
            <a:srgbClr val="D4A85A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14186" y="2170786"/>
            <a:ext cx="230429" cy="230429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7086600" y="207568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E7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 줄 소개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355080" y="265176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i="1" dirty="0">
                <a:solidFill>
                  <a:srgbClr val="E8C8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“틀을 벗어난 명화를, 다시 틀로.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i="1" dirty="0">
                <a:solidFill>
                  <a:srgbClr val="E8C8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설명하지 않는 미술관.”</a:t>
            </a:r>
            <a:endParaRPr lang="en-US" sz="2000" dirty="0"/>
          </a:p>
        </p:txBody>
      </p:sp>
      <p:sp>
        <p:nvSpPr>
          <p:cNvPr id="22" name="Shape 19"/>
          <p:cNvSpPr/>
          <p:nvPr/>
        </p:nvSpPr>
        <p:spPr>
          <a:xfrm>
            <a:off x="6355080" y="3794760"/>
            <a:ext cx="4846320" cy="0"/>
          </a:xfrm>
          <a:prstGeom prst="line">
            <a:avLst/>
          </a:prstGeom>
          <a:noFill/>
          <a:ln w="12700">
            <a:solidFill>
              <a:srgbClr val="3A3A5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355080" y="39319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FD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UNFRAMED = un-frame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6355080" y="4297680"/>
            <a:ext cx="4846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EDE7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액자를 벗어난 명화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9B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(문제 상황) ↔ 다시 봉인하는 </a:t>
            </a:r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EDE7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re-frame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9B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(목표). 동시에 ‘지루한 수업의 틀을 깬 미술 교육’이라는 중의적 메시지.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B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54864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B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UNFRAMED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2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4A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DE7D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왜 미술 교육은 지루할까?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12080" cy="4297680"/>
          </a:xfrm>
          <a:prstGeom prst="roundRect">
            <a:avLst>
              <a:gd name="adj" fmla="val 1702"/>
            </a:avLst>
          </a:prstGeom>
          <a:solidFill>
            <a:srgbClr val="1C1C2B"/>
          </a:solidFill>
          <a:ln w="12700">
            <a:solidFill>
              <a:srgbClr val="3A3A52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103120"/>
            <a:ext cx="548640" cy="548640"/>
          </a:xfrm>
          <a:prstGeom prst="ellipse">
            <a:avLst/>
          </a:prstGeom>
          <a:solidFill>
            <a:srgbClr val="9B96A8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9226" y="2262226"/>
            <a:ext cx="230429" cy="23042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1762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B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60120" y="2743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E7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일방적 전달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60120" y="310896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B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교사가 설명하고 학생은 듣기만 — 수동적 수용.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60120" y="3794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E7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암기식 학습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60120" y="416052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B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작가·연도·사조를 시험용으로 외우고 곧 잊음.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960120" y="4846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E7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맥락의 부재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960120" y="521208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9B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명화를 ‘직접 만나는’ 경험 없이 이미지로만 소비.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309360" y="1783080"/>
            <a:ext cx="5212080" cy="4297680"/>
          </a:xfrm>
          <a:prstGeom prst="roundRect">
            <a:avLst>
              <a:gd name="adj" fmla="val 1702"/>
            </a:avLst>
          </a:prstGeom>
          <a:solidFill>
            <a:srgbClr val="242438"/>
          </a:solidFill>
          <a:ln w="19050">
            <a:solidFill>
              <a:srgbClr val="D4A85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629400" y="2103120"/>
            <a:ext cx="548640" cy="548640"/>
          </a:xfrm>
          <a:prstGeom prst="ellipse">
            <a:avLst/>
          </a:prstGeom>
          <a:solidFill>
            <a:srgbClr val="D4A85A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506" y="2262226"/>
            <a:ext cx="230429" cy="230429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360920" y="217627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D4A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UNFRAMED 의 해결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6629400" y="2743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C8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능동적 탐색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6629400" y="310896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DE7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튜토리얼 없이 스스로 목표를 깨닫고 행동한다.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6629400" y="3794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C8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대화형 학습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6629400" y="416052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DE7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명화 본인(버추얼 휴먼)과 직접 묻고 답한다.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6629400" y="4846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C8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즉시 평가</a:t>
            </a:r>
            <a:endParaRPr lang="en-US" sz="1600" dirty="0"/>
          </a:p>
        </p:txBody>
      </p:sp>
      <p:sp>
        <p:nvSpPr>
          <p:cNvPr id="23" name="Text 19"/>
          <p:cNvSpPr/>
          <p:nvPr/>
        </p:nvSpPr>
        <p:spPr>
          <a:xfrm>
            <a:off x="6629400" y="521208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DE7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대화에서 배운 내용으로 그 자리에서 퀴즈·봉인.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B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54864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B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UNFRAMED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2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4A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GAME LOOP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DE7D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하나의 사이클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탐색 → 포획 → 설명 → 대화 → 퀴즈 → 봉인. 명화 3종(모나리자·뭉크·반 고흐)을 모두 봉인하면 교실로 복귀.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1638300" cy="2834640"/>
          </a:xfrm>
          <a:prstGeom prst="roundRect">
            <a:avLst>
              <a:gd name="adj" fmla="val 3907"/>
            </a:avLst>
          </a:prstGeom>
          <a:solidFill>
            <a:srgbClr val="1C1C2B"/>
          </a:solidFill>
          <a:ln w="12700">
            <a:solidFill>
              <a:srgbClr val="3A3A52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57478" y="2578608"/>
            <a:ext cx="603504" cy="603504"/>
          </a:xfrm>
          <a:prstGeom prst="ellipse">
            <a:avLst/>
          </a:prstGeom>
          <a:solidFill>
            <a:srgbClr val="D4A85A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2494" y="2753624"/>
            <a:ext cx="253472" cy="253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808" y="23957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85800" y="3383280"/>
            <a:ext cx="15468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DE7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탐색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13232" y="3794760"/>
            <a:ext cx="14919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9B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 액자와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9B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떠다니는 인물 발견</a:t>
            </a:r>
            <a:endParaRPr lang="en-US" sz="11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9528" y="3630168"/>
            <a:ext cx="146304" cy="146304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506980" y="2286000"/>
            <a:ext cx="1638300" cy="2834640"/>
          </a:xfrm>
          <a:prstGeom prst="roundRect">
            <a:avLst>
              <a:gd name="adj" fmla="val 3907"/>
            </a:avLst>
          </a:prstGeom>
          <a:solidFill>
            <a:srgbClr val="1C1C2B"/>
          </a:solidFill>
          <a:ln w="12700">
            <a:solidFill>
              <a:srgbClr val="3A3A52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024378" y="2578608"/>
            <a:ext cx="603504" cy="603504"/>
          </a:xfrm>
          <a:prstGeom prst="ellipse">
            <a:avLst/>
          </a:prstGeom>
          <a:solidFill>
            <a:srgbClr val="D4A85A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9394" y="2753624"/>
            <a:ext cx="253472" cy="25347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616708" y="23957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2552700" y="3383280"/>
            <a:ext cx="15468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DE7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포획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2580132" y="3794760"/>
            <a:ext cx="14919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9B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카메라로 찰칵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9B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인물 포착</a:t>
            </a:r>
            <a:endParaRPr lang="en-US" sz="11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6428" y="3630168"/>
            <a:ext cx="146304" cy="146304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4373880" y="2286000"/>
            <a:ext cx="1638300" cy="2834640"/>
          </a:xfrm>
          <a:prstGeom prst="roundRect">
            <a:avLst>
              <a:gd name="adj" fmla="val 3907"/>
            </a:avLst>
          </a:prstGeom>
          <a:solidFill>
            <a:srgbClr val="1C1C2B"/>
          </a:solidFill>
          <a:ln w="12700">
            <a:solidFill>
              <a:srgbClr val="3A3A52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2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4891278" y="2578608"/>
            <a:ext cx="603504" cy="603504"/>
          </a:xfrm>
          <a:prstGeom prst="ellipse">
            <a:avLst/>
          </a:prstGeom>
          <a:solidFill>
            <a:srgbClr val="D4A85A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66294" y="2753624"/>
            <a:ext cx="253472" cy="25347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483608" y="23957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4419600" y="3383280"/>
            <a:ext cx="15468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DE7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설명</a:t>
            </a:r>
            <a:endParaRPr lang="en-US" sz="1500" dirty="0"/>
          </a:p>
        </p:txBody>
      </p:sp>
      <p:sp>
        <p:nvSpPr>
          <p:cNvPr id="24" name="Text 17"/>
          <p:cNvSpPr/>
          <p:nvPr/>
        </p:nvSpPr>
        <p:spPr>
          <a:xfrm>
            <a:off x="4447032" y="3794760"/>
            <a:ext cx="14919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9B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명화 등장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9B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TTS 자기소개</a:t>
            </a:r>
            <a:endParaRPr lang="en-US" sz="1100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53328" y="3630168"/>
            <a:ext cx="146304" cy="146304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6240780" y="2286000"/>
            <a:ext cx="1638300" cy="2834640"/>
          </a:xfrm>
          <a:prstGeom prst="roundRect">
            <a:avLst>
              <a:gd name="adj" fmla="val 3907"/>
            </a:avLst>
          </a:prstGeom>
          <a:solidFill>
            <a:srgbClr val="2A2A44"/>
          </a:solidFill>
          <a:ln w="19050">
            <a:solidFill>
              <a:srgbClr val="6FD6C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2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6758178" y="2578608"/>
            <a:ext cx="603504" cy="603504"/>
          </a:xfrm>
          <a:prstGeom prst="ellipse">
            <a:avLst/>
          </a:prstGeom>
          <a:solidFill>
            <a:srgbClr val="6FD6C9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33194" y="2753624"/>
            <a:ext cx="253472" cy="253472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6350508" y="23957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30" name="Text 21"/>
          <p:cNvSpPr/>
          <p:nvPr/>
        </p:nvSpPr>
        <p:spPr>
          <a:xfrm>
            <a:off x="6286500" y="3383280"/>
            <a:ext cx="15468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FD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자유 대화</a:t>
            </a:r>
            <a:endParaRPr lang="en-US" sz="1500" dirty="0"/>
          </a:p>
        </p:txBody>
      </p:sp>
      <p:sp>
        <p:nvSpPr>
          <p:cNvPr id="31" name="Text 22"/>
          <p:cNvSpPr/>
          <p:nvPr/>
        </p:nvSpPr>
        <p:spPr>
          <a:xfrm>
            <a:off x="6313932" y="3794760"/>
            <a:ext cx="14919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9B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궁금한 점 질문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9B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(생성형 AI)</a:t>
            </a:r>
            <a:endParaRPr lang="en-US" sz="1100" dirty="0"/>
          </a:p>
        </p:txBody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20228" y="3630168"/>
            <a:ext cx="146304" cy="146304"/>
          </a:xfrm>
          <a:prstGeom prst="rect">
            <a:avLst/>
          </a:prstGeom>
        </p:spPr>
      </p:pic>
      <p:sp>
        <p:nvSpPr>
          <p:cNvPr id="33" name="Shape 23"/>
          <p:cNvSpPr/>
          <p:nvPr/>
        </p:nvSpPr>
        <p:spPr>
          <a:xfrm>
            <a:off x="8107680" y="2286000"/>
            <a:ext cx="1638300" cy="2834640"/>
          </a:xfrm>
          <a:prstGeom prst="roundRect">
            <a:avLst>
              <a:gd name="adj" fmla="val 3907"/>
            </a:avLst>
          </a:prstGeom>
          <a:solidFill>
            <a:srgbClr val="1C1C2B"/>
          </a:solidFill>
          <a:ln w="12700">
            <a:solidFill>
              <a:srgbClr val="3A3A52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2000"/>
              </a:srgbClr>
            </a:outerShdw>
          </a:effectLst>
        </p:spPr>
      </p:sp>
      <p:sp>
        <p:nvSpPr>
          <p:cNvPr id="34" name="Shape 24"/>
          <p:cNvSpPr/>
          <p:nvPr/>
        </p:nvSpPr>
        <p:spPr>
          <a:xfrm>
            <a:off x="8625078" y="2578608"/>
            <a:ext cx="603504" cy="603504"/>
          </a:xfrm>
          <a:prstGeom prst="ellipse">
            <a:avLst/>
          </a:prstGeom>
          <a:solidFill>
            <a:srgbClr val="D4A85A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00094" y="2753624"/>
            <a:ext cx="253472" cy="253472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8217408" y="23957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37" name="Text 26"/>
          <p:cNvSpPr/>
          <p:nvPr/>
        </p:nvSpPr>
        <p:spPr>
          <a:xfrm>
            <a:off x="8153400" y="3383280"/>
            <a:ext cx="15468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DE7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퀴즈</a:t>
            </a:r>
            <a:endParaRPr lang="en-US" sz="1500" dirty="0"/>
          </a:p>
        </p:txBody>
      </p:sp>
      <p:sp>
        <p:nvSpPr>
          <p:cNvPr id="38" name="Text 27"/>
          <p:cNvSpPr/>
          <p:nvPr/>
        </p:nvSpPr>
        <p:spPr>
          <a:xfrm>
            <a:off x="8180832" y="3794760"/>
            <a:ext cx="14919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9B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대화 기반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9B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 생성·풀이</a:t>
            </a:r>
            <a:endParaRPr lang="en-US" sz="1100" dirty="0"/>
          </a:p>
        </p:txBody>
      </p:sp>
      <p:pic>
        <p:nvPicPr>
          <p:cNvPr id="3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87128" y="3630168"/>
            <a:ext cx="146304" cy="146304"/>
          </a:xfrm>
          <a:prstGeom prst="rect">
            <a:avLst/>
          </a:prstGeom>
        </p:spPr>
      </p:pic>
      <p:sp>
        <p:nvSpPr>
          <p:cNvPr id="40" name="Shape 28"/>
          <p:cNvSpPr/>
          <p:nvPr/>
        </p:nvSpPr>
        <p:spPr>
          <a:xfrm>
            <a:off x="9974580" y="2286000"/>
            <a:ext cx="1638300" cy="2834640"/>
          </a:xfrm>
          <a:prstGeom prst="roundRect">
            <a:avLst>
              <a:gd name="adj" fmla="val 3907"/>
            </a:avLst>
          </a:prstGeom>
          <a:solidFill>
            <a:srgbClr val="1C1C2B"/>
          </a:solidFill>
          <a:ln w="12700">
            <a:solidFill>
              <a:srgbClr val="3A3A52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2000"/>
              </a:srgbClr>
            </a:outerShdw>
          </a:effectLst>
        </p:spPr>
      </p:sp>
      <p:sp>
        <p:nvSpPr>
          <p:cNvPr id="41" name="Shape 29"/>
          <p:cNvSpPr/>
          <p:nvPr/>
        </p:nvSpPr>
        <p:spPr>
          <a:xfrm>
            <a:off x="10491978" y="2578608"/>
            <a:ext cx="603504" cy="603504"/>
          </a:xfrm>
          <a:prstGeom prst="ellipse">
            <a:avLst/>
          </a:prstGeom>
          <a:solidFill>
            <a:srgbClr val="D4A85A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4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666994" y="2753624"/>
            <a:ext cx="253472" cy="253472"/>
          </a:xfrm>
          <a:prstGeom prst="rect">
            <a:avLst/>
          </a:prstGeom>
        </p:spPr>
      </p:pic>
      <p:sp>
        <p:nvSpPr>
          <p:cNvPr id="43" name="Text 30"/>
          <p:cNvSpPr/>
          <p:nvPr/>
        </p:nvSpPr>
        <p:spPr>
          <a:xfrm>
            <a:off x="10084308" y="23957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B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44" name="Text 31"/>
          <p:cNvSpPr/>
          <p:nvPr/>
        </p:nvSpPr>
        <p:spPr>
          <a:xfrm>
            <a:off x="10020300" y="3383280"/>
            <a:ext cx="15468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DE7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봉인</a:t>
            </a:r>
            <a:endParaRPr lang="en-US" sz="1500" dirty="0"/>
          </a:p>
        </p:txBody>
      </p:sp>
      <p:sp>
        <p:nvSpPr>
          <p:cNvPr id="45" name="Text 32"/>
          <p:cNvSpPr/>
          <p:nvPr/>
        </p:nvSpPr>
        <p:spPr>
          <a:xfrm>
            <a:off x="10047732" y="3794760"/>
            <a:ext cx="14919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9B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정답 시 봉인</a:t>
            </a:r>
            <a:endParaRPr lang="en-US" sz="11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9B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스탬프 획득</a:t>
            </a:r>
            <a:endParaRPr lang="en-US" sz="1100" dirty="0"/>
          </a:p>
        </p:txBody>
      </p:sp>
      <p:sp>
        <p:nvSpPr>
          <p:cNvPr id="46" name="Shape 33"/>
          <p:cNvSpPr/>
          <p:nvPr/>
        </p:nvSpPr>
        <p:spPr>
          <a:xfrm>
            <a:off x="640080" y="5394960"/>
            <a:ext cx="10972800" cy="777240"/>
          </a:xfrm>
          <a:prstGeom prst="roundRect">
            <a:avLst>
              <a:gd name="adj" fmla="val 7059"/>
            </a:avLst>
          </a:prstGeom>
          <a:solidFill>
            <a:srgbClr val="242438"/>
          </a:solidFill>
          <a:ln w="12700">
            <a:solidFill>
              <a:srgbClr val="6FD6C9"/>
            </a:solidFill>
            <a:prstDash val="solid"/>
          </a:ln>
        </p:spPr>
      </p:sp>
      <p:sp>
        <p:nvSpPr>
          <p:cNvPr id="47" name="Shape 34"/>
          <p:cNvSpPr/>
          <p:nvPr/>
        </p:nvSpPr>
        <p:spPr>
          <a:xfrm>
            <a:off x="914400" y="5577840"/>
            <a:ext cx="411480" cy="411480"/>
          </a:xfrm>
          <a:prstGeom prst="ellipse">
            <a:avLst/>
          </a:prstGeom>
          <a:solidFill>
            <a:srgbClr val="6FD6C9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4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33729" y="5697169"/>
            <a:ext cx="172822" cy="172822"/>
          </a:xfrm>
          <a:prstGeom prst="rect">
            <a:avLst/>
          </a:prstGeom>
        </p:spPr>
      </p:pic>
      <p:sp>
        <p:nvSpPr>
          <p:cNvPr id="49" name="Text 35"/>
          <p:cNvSpPr/>
          <p:nvPr/>
        </p:nvSpPr>
        <p:spPr>
          <a:xfrm>
            <a:off x="1463040" y="553212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FD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차별점 — </a:t>
            </a:r>
            <a:pPr indent="0" marL="0">
              <a:buNone/>
            </a:pPr>
            <a:r>
              <a:rPr lang="en-US" sz="1350" dirty="0">
                <a:solidFill>
                  <a:srgbClr val="EDE7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대화는 장식이 아니라 </a:t>
            </a:r>
            <a:pPr indent="0" marL="0">
              <a:buNone/>
            </a:pPr>
            <a:r>
              <a:rPr lang="en-US" sz="1350" b="1" dirty="0">
                <a:solidFill>
                  <a:srgbClr val="E8C8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게임 진행의 필수 관문</a:t>
            </a:r>
            <a:pPr indent="0" marL="0">
              <a:buNone/>
            </a:pPr>
            <a:r>
              <a:rPr lang="en-US" sz="1350" dirty="0">
                <a:solidFill>
                  <a:srgbClr val="EDE7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입니다. 대화를 해야 퀴즈가 생성되고, 퀴즈를 풀어야 봉인됩니다.</a:t>
            </a:r>
            <a:endParaRPr lang="en-US" sz="1350" dirty="0"/>
          </a:p>
        </p:txBody>
      </p:sp>
      <p:sp>
        <p:nvSpPr>
          <p:cNvPr id="50" name="Text 36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B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51" name="Text 37"/>
          <p:cNvSpPr/>
          <p:nvPr/>
        </p:nvSpPr>
        <p:spPr>
          <a:xfrm>
            <a:off x="54864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B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UNFRAMED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2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4A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PRINCIPLE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DE7D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설명하지 않는다. 환경이 말하게 한다.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D4A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환경 스토리텔링 (Diegetic UI) 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B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튜토리얼 텍스트 없이, 소품과 공간이 ‘무엇을 해야 하는지’를 흘린다. 유저는 안내받았다고 느끼지 않지만 이미 목표로 향한다.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5394960" cy="1234440"/>
          </a:xfrm>
          <a:prstGeom prst="roundRect">
            <a:avLst>
              <a:gd name="adj" fmla="val 5185"/>
            </a:avLst>
          </a:prstGeom>
          <a:solidFill>
            <a:srgbClr val="1C1C2B"/>
          </a:solidFill>
          <a:ln w="12700">
            <a:solidFill>
              <a:srgbClr val="3A3A52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578608"/>
            <a:ext cx="566928" cy="566928"/>
          </a:xfrm>
          <a:prstGeom prst="ellipse">
            <a:avLst/>
          </a:prstGeom>
          <a:solidFill>
            <a:srgbClr val="D4A85A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809" y="2743017"/>
            <a:ext cx="238110" cy="23811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24414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E7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 액자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691640" y="2843784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B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“뭔가 있어야 하는데 없다” → 목표가 저절로 생김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309360" y="2240280"/>
            <a:ext cx="5394960" cy="1234440"/>
          </a:xfrm>
          <a:prstGeom prst="roundRect">
            <a:avLst>
              <a:gd name="adj" fmla="val 5185"/>
            </a:avLst>
          </a:prstGeom>
          <a:solidFill>
            <a:srgbClr val="1C1C2B"/>
          </a:solidFill>
          <a:ln w="12700">
            <a:solidFill>
              <a:srgbClr val="3A3A52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83680" y="2578608"/>
            <a:ext cx="566928" cy="566928"/>
          </a:xfrm>
          <a:prstGeom prst="ellipse">
            <a:avLst/>
          </a:prstGeom>
          <a:solidFill>
            <a:srgbClr val="D4A85A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8089" y="2743017"/>
            <a:ext cx="238110" cy="23811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360920" y="24414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E7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떠다니는 인물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7360920" y="2843784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B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“쟤가 저기서 빠져나왔구나” → 원인·결과 추론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40080" y="3657600"/>
            <a:ext cx="5394960" cy="1234440"/>
          </a:xfrm>
          <a:prstGeom prst="roundRect">
            <a:avLst>
              <a:gd name="adj" fmla="val 5185"/>
            </a:avLst>
          </a:prstGeom>
          <a:solidFill>
            <a:srgbClr val="1C1C2B"/>
          </a:solidFill>
          <a:ln w="12700">
            <a:solidFill>
              <a:srgbClr val="3A3A52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914400" y="3995928"/>
            <a:ext cx="566928" cy="566928"/>
          </a:xfrm>
          <a:prstGeom prst="ellipse">
            <a:avLst/>
          </a:prstGeom>
          <a:solidFill>
            <a:srgbClr val="D4A85A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809" y="4160337"/>
            <a:ext cx="238110" cy="23811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91640" y="385876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E7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인벤토리 속 카메라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1691640" y="4261104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B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“이걸로 뭘 하라는 거지?” → 도구 용도 자가발견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309360" y="3657600"/>
            <a:ext cx="5394960" cy="1234440"/>
          </a:xfrm>
          <a:prstGeom prst="roundRect">
            <a:avLst>
              <a:gd name="adj" fmla="val 5185"/>
            </a:avLst>
          </a:prstGeom>
          <a:solidFill>
            <a:srgbClr val="1C1C2B"/>
          </a:solidFill>
          <a:ln w="12700">
            <a:solidFill>
              <a:srgbClr val="3A3A52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583680" y="3995928"/>
            <a:ext cx="566928" cy="566928"/>
          </a:xfrm>
          <a:prstGeom prst="ellipse">
            <a:avLst/>
          </a:prstGeom>
          <a:solidFill>
            <a:srgbClr val="D4A85A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8089" y="4160337"/>
            <a:ext cx="238110" cy="23811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360920" y="385876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E7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스탬프 3칸 종이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7360920" y="4261104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9B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“3개를 채우면 끝” → 진행도를 UI 아닌 소품으로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>
            <a:off x="640080" y="5257800"/>
            <a:ext cx="10881360" cy="960120"/>
          </a:xfrm>
          <a:prstGeom prst="roundRect">
            <a:avLst>
              <a:gd name="adj" fmla="val 5714"/>
            </a:avLst>
          </a:prstGeom>
          <a:solidFill>
            <a:srgbClr val="2A2A44"/>
          </a:solidFill>
          <a:ln w="12700">
            <a:solidFill>
              <a:srgbClr val="6FD6C9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914400" y="5532120"/>
            <a:ext cx="411480" cy="411480"/>
          </a:xfrm>
          <a:prstGeom prst="ellipse">
            <a:avLst/>
          </a:prstGeom>
          <a:solidFill>
            <a:srgbClr val="242438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729" y="5651449"/>
            <a:ext cx="172822" cy="17282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463040" y="539496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6FD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안전장치 — 디제시스적 넛지 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DE7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유저가 길을 잃지 않도록 ‘환경이 주는 힌트’를 1개 심는다: 뷰파인더에 인물이 들어오면 미세하게 반짝, 떠다니는 명화가 빈 액자 근처를 맴돌게. 자율성과 친절함의 균형.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B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54864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B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UNFRAMED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12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4A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&amp; ROLES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DE7D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4개 전공, 4개의 필수 기여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B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각 전공이 ‘없으면 안 되는’ 역할을 맡아 한 서비스 안에서 융합된다. — 평가 기준: 기술 구현·융합성 30점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5394960" cy="1874520"/>
          </a:xfrm>
          <a:prstGeom prst="roundRect">
            <a:avLst>
              <a:gd name="adj" fmla="val 3902"/>
            </a:avLst>
          </a:prstGeom>
          <a:solidFill>
            <a:srgbClr val="2A2A44"/>
          </a:solidFill>
          <a:ln w="19050">
            <a:solidFill>
              <a:srgbClr val="6FD6C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32688" y="2368296"/>
            <a:ext cx="640080" cy="640080"/>
          </a:xfrm>
          <a:prstGeom prst="ellipse">
            <a:avLst/>
          </a:prstGeom>
          <a:solidFill>
            <a:srgbClr val="6FD6C9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8311" y="2553919"/>
            <a:ext cx="268834" cy="26883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83080" y="2331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FD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783080" y="273405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김정현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50976" y="308152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E7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명화 버추얼 휴먼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950976" y="3392424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B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프롬프트로 가둔 작품 한정 대화 + 대화 맥락 기반 실시간 퀴즈 생성 + 자유 질문 응답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309360" y="2057400"/>
            <a:ext cx="5394960" cy="1874520"/>
          </a:xfrm>
          <a:prstGeom prst="roundRect">
            <a:avLst>
              <a:gd name="adj" fmla="val 3902"/>
            </a:avLst>
          </a:prstGeom>
          <a:solidFill>
            <a:srgbClr val="1C1C2B"/>
          </a:solidFill>
          <a:ln w="12700">
            <a:solidFill>
              <a:srgbClr val="D4A85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601968" y="2368296"/>
            <a:ext cx="640080" cy="640080"/>
          </a:xfrm>
          <a:prstGeom prst="ellipse">
            <a:avLst/>
          </a:prstGeom>
          <a:solidFill>
            <a:srgbClr val="D4A85A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7591" y="2553919"/>
            <a:ext cx="268834" cy="26883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452360" y="2331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백엔드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7452360" y="273405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최준환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6620256" y="308152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E7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도감 · 진척도 서버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6620256" y="3392424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B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봉인 성공/실패, 학습 완료율, 정답률, 플레이 시간 저장 · 재방문 시 도감 복원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640080" y="4114800"/>
            <a:ext cx="5394960" cy="1874520"/>
          </a:xfrm>
          <a:prstGeom prst="roundRect">
            <a:avLst>
              <a:gd name="adj" fmla="val 3902"/>
            </a:avLst>
          </a:prstGeom>
          <a:solidFill>
            <a:srgbClr val="1C1C2B"/>
          </a:solidFill>
          <a:ln w="12700">
            <a:solidFill>
              <a:srgbClr val="D4A85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932688" y="4425696"/>
            <a:ext cx="640080" cy="640080"/>
          </a:xfrm>
          <a:prstGeom prst="ellipse">
            <a:avLst/>
          </a:prstGeom>
          <a:solidFill>
            <a:srgbClr val="D4A85A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311" y="4611319"/>
            <a:ext cx="268834" cy="26883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783080" y="4389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</a:t>
            </a:r>
            <a:endParaRPr lang="en-US" sz="1800" dirty="0"/>
          </a:p>
        </p:txBody>
      </p:sp>
      <p:sp>
        <p:nvSpPr>
          <p:cNvPr id="23" name="Text 18"/>
          <p:cNvSpPr/>
          <p:nvPr/>
        </p:nvSpPr>
        <p:spPr>
          <a:xfrm>
            <a:off x="1783080" y="479145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남창헌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950976" y="513892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E7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시그니처 비주얼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950976" y="5449824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B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봉인 물감 흡수 셰이더 + 자정 박물관 루멘 라이팅 + 명화 유령 반투명 머티리얼</a:t>
            </a:r>
            <a:endParaRPr lang="en-US" sz="1150" dirty="0"/>
          </a:p>
        </p:txBody>
      </p:sp>
      <p:sp>
        <p:nvSpPr>
          <p:cNvPr id="26" name="Shape 21"/>
          <p:cNvSpPr/>
          <p:nvPr/>
        </p:nvSpPr>
        <p:spPr>
          <a:xfrm>
            <a:off x="6309360" y="4114800"/>
            <a:ext cx="5394960" cy="1874520"/>
          </a:xfrm>
          <a:prstGeom prst="roundRect">
            <a:avLst>
              <a:gd name="adj" fmla="val 3902"/>
            </a:avLst>
          </a:prstGeom>
          <a:solidFill>
            <a:srgbClr val="1C1C2B"/>
          </a:solidFill>
          <a:ln w="12700">
            <a:solidFill>
              <a:srgbClr val="D4A85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2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6601968" y="4425696"/>
            <a:ext cx="640080" cy="640080"/>
          </a:xfrm>
          <a:prstGeom prst="ellipse">
            <a:avLst/>
          </a:prstGeom>
          <a:solidFill>
            <a:srgbClr val="D4A85A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7591" y="4611319"/>
            <a:ext cx="268834" cy="268834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7452360" y="4389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언리얼</a:t>
            </a:r>
            <a:endParaRPr lang="en-US" sz="1800" dirty="0"/>
          </a:p>
        </p:txBody>
      </p:sp>
      <p:sp>
        <p:nvSpPr>
          <p:cNvPr id="30" name="Text 24"/>
          <p:cNvSpPr/>
          <p:nvPr/>
        </p:nvSpPr>
        <p:spPr>
          <a:xfrm>
            <a:off x="7452360" y="479145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박재현 · 임효택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6620256" y="5138928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E7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코어 빌드</a:t>
            </a:r>
            <a:endParaRPr lang="en-US" sz="1400" dirty="0"/>
          </a:p>
        </p:txBody>
      </p:sp>
      <p:sp>
        <p:nvSpPr>
          <p:cNvPr id="32" name="Text 26"/>
          <p:cNvSpPr/>
          <p:nvPr/>
        </p:nvSpPr>
        <p:spPr>
          <a:xfrm>
            <a:off x="6620256" y="5449824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B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1인칭 탐색 · 카메라 포획 메커닉 · 액자 인터랙트/화면전환 · 전체 빌드 통합</a:t>
            </a:r>
            <a:endParaRPr lang="en-US" sz="1150" dirty="0"/>
          </a:p>
        </p:txBody>
      </p:sp>
      <p:sp>
        <p:nvSpPr>
          <p:cNvPr id="33" name="Text 27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B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" dirty="0"/>
          </a:p>
        </p:txBody>
      </p:sp>
      <p:sp>
        <p:nvSpPr>
          <p:cNvPr id="34" name="Text 28"/>
          <p:cNvSpPr/>
          <p:nvPr/>
        </p:nvSpPr>
        <p:spPr>
          <a:xfrm>
            <a:off x="54864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B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UNFRAMED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2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4A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DE7D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시스템 구성 · 아키텍처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22960" y="2286000"/>
            <a:ext cx="3108960" cy="2743200"/>
          </a:xfrm>
          <a:prstGeom prst="roundRect">
            <a:avLst>
              <a:gd name="adj" fmla="val 2667"/>
            </a:avLst>
          </a:prstGeom>
          <a:solidFill>
            <a:srgbClr val="1C1C2B"/>
          </a:solidFill>
          <a:ln w="17780">
            <a:solidFill>
              <a:srgbClr val="D4A85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2542032"/>
            <a:ext cx="548640" cy="548640"/>
          </a:xfrm>
          <a:prstGeom prst="ellipse">
            <a:avLst/>
          </a:prstGeom>
          <a:solidFill>
            <a:srgbClr val="D4A85A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6386" y="2701138"/>
            <a:ext cx="230429" cy="23042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5603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E7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클라이언트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783080" y="29077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4A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Unreal Engine 5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097280" y="3429000"/>
            <a:ext cx="2606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9B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1인칭 탐색 · 카메라 포획</a:t>
            </a:r>
            <a:endParaRPr lang="en-US" sz="120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9B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셰이더 · 루멘 라이팅 (TA)</a:t>
            </a:r>
            <a:endParaRPr lang="en-US" sz="120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9B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액자 인터랙트 · 화면전환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754880" y="2286000"/>
            <a:ext cx="2743200" cy="2743200"/>
          </a:xfrm>
          <a:prstGeom prst="roundRect">
            <a:avLst>
              <a:gd name="adj" fmla="val 2667"/>
            </a:avLst>
          </a:prstGeom>
          <a:solidFill>
            <a:srgbClr val="1C1C2B"/>
          </a:solidFill>
          <a:ln w="17780">
            <a:solidFill>
              <a:srgbClr val="D4A85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029200" y="2542032"/>
            <a:ext cx="548640" cy="548640"/>
          </a:xfrm>
          <a:prstGeom prst="ellipse">
            <a:avLst/>
          </a:prstGeom>
          <a:solidFill>
            <a:srgbClr val="D4A85A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8306" y="2701138"/>
            <a:ext cx="230429" cy="23042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715000" y="25603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E7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백엔드 서버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5715000" y="29077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4A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· DB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5029200" y="342900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9B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명화 도감 · 진척도 저장</a:t>
            </a:r>
            <a:endParaRPr lang="en-US" sz="120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9B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퀴즈 결과 · 학습 통계</a:t>
            </a:r>
            <a:endParaRPr lang="en-US" sz="120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9B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재방문 시 상태 복원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138160" y="2286000"/>
            <a:ext cx="3108960" cy="2743200"/>
          </a:xfrm>
          <a:prstGeom prst="roundRect">
            <a:avLst>
              <a:gd name="adj" fmla="val 2667"/>
            </a:avLst>
          </a:prstGeom>
          <a:solidFill>
            <a:srgbClr val="2A2A44"/>
          </a:solidFill>
          <a:ln w="17780">
            <a:solidFill>
              <a:srgbClr val="6FD6C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412480" y="2542032"/>
            <a:ext cx="548640" cy="548640"/>
          </a:xfrm>
          <a:prstGeom prst="ellipse">
            <a:avLst/>
          </a:prstGeom>
          <a:solidFill>
            <a:srgbClr val="6FD6C9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1586" y="2701138"/>
            <a:ext cx="230429" cy="230429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098280" y="25603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E7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생성형 AI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9098280" y="29077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FD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API · TTS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8412480" y="3429000"/>
            <a:ext cx="2606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9B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명화 페르소나 대화</a:t>
            </a:r>
            <a:endParaRPr lang="en-US" sz="120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9B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대화 기반 퀴즈 생성</a:t>
            </a:r>
            <a:endParaRPr lang="en-US" sz="1200" dirty="0"/>
          </a:p>
          <a:p>
            <a:pPr marL="152400" indent="-1524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9B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음성 합성 (버추얼 휴먼)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3977640" y="3657600"/>
            <a:ext cx="548640" cy="0"/>
          </a:xfrm>
          <a:prstGeom prst="line">
            <a:avLst/>
          </a:prstGeom>
          <a:noFill/>
          <a:ln w="25400">
            <a:solidFill>
              <a:srgbClr val="D4A85A"/>
            </a:solidFill>
            <a:prstDash val="solid"/>
            <a:headEnd type="triangle"/>
            <a:tailEnd type="triangle"/>
          </a:ln>
        </p:spPr>
      </p:sp>
      <p:sp>
        <p:nvSpPr>
          <p:cNvPr id="23" name="Text 18"/>
          <p:cNvSpPr/>
          <p:nvPr/>
        </p:nvSpPr>
        <p:spPr>
          <a:xfrm>
            <a:off x="3657600" y="31546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B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도감·결과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B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저장/조회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7360920" y="3657600"/>
            <a:ext cx="548640" cy="0"/>
          </a:xfrm>
          <a:prstGeom prst="line">
            <a:avLst/>
          </a:prstGeom>
          <a:noFill/>
          <a:ln w="25400">
            <a:solidFill>
              <a:srgbClr val="D4A85A"/>
            </a:solidFill>
            <a:prstDash val="solid"/>
            <a:headEnd type="triangle"/>
            <a:tailEnd type="triangle"/>
          </a:ln>
        </p:spPr>
      </p:sp>
      <p:sp>
        <p:nvSpPr>
          <p:cNvPr id="25" name="Text 20"/>
          <p:cNvSpPr/>
          <p:nvPr/>
        </p:nvSpPr>
        <p:spPr>
          <a:xfrm>
            <a:off x="7040880" y="31546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B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대화·퀴즈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B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요청/응답</a:t>
            </a:r>
            <a:endParaRPr lang="en-US" sz="950" dirty="0"/>
          </a:p>
        </p:txBody>
      </p:sp>
      <p:sp>
        <p:nvSpPr>
          <p:cNvPr id="26" name="Shape 21"/>
          <p:cNvSpPr/>
          <p:nvPr/>
        </p:nvSpPr>
        <p:spPr>
          <a:xfrm>
            <a:off x="822960" y="5349240"/>
            <a:ext cx="10515600" cy="822960"/>
          </a:xfrm>
          <a:prstGeom prst="roundRect">
            <a:avLst>
              <a:gd name="adj" fmla="val 6667"/>
            </a:avLst>
          </a:prstGeom>
          <a:solidFill>
            <a:srgbClr val="242438"/>
          </a:solidFill>
          <a:ln w="12700">
            <a:solidFill>
              <a:srgbClr val="3A3A52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1097280" y="54864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D4A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흐름 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DE7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유저 행동(언리얼) → 백엔드가 진척·통계 기록 → AI가 대화 맥락으로 퀴즈 생성 → 결과를 다시 백엔드에 누적. 세 축이 한 루프에서 맞물린다.</a:t>
            </a:r>
            <a:endParaRPr lang="en-US" sz="1250" dirty="0"/>
          </a:p>
        </p:txBody>
      </p:sp>
      <p:sp>
        <p:nvSpPr>
          <p:cNvPr id="28" name="Text 23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B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54864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B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UNFRAMED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2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4A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DE7D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주요 기능 · 개발 환경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520440" cy="1207008"/>
          </a:xfrm>
          <a:prstGeom prst="roundRect">
            <a:avLst>
              <a:gd name="adj" fmla="val 5303"/>
            </a:avLst>
          </a:prstGeom>
          <a:solidFill>
            <a:srgbClr val="1C1C2B"/>
          </a:solidFill>
          <a:ln w="12700">
            <a:solidFill>
              <a:srgbClr val="3A3A52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304288"/>
            <a:ext cx="548640" cy="548640"/>
          </a:xfrm>
          <a:prstGeom prst="ellipse">
            <a:avLst/>
          </a:prstGeom>
          <a:solidFill>
            <a:srgbClr val="D4A85A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5218" y="2463394"/>
            <a:ext cx="230429" cy="23042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2128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E7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카메라 포획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554480" y="2578608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B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떠다니는 명화 인물을 조준·촬영해 포착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61688" y="2011680"/>
            <a:ext cx="3520440" cy="1207008"/>
          </a:xfrm>
          <a:prstGeom prst="roundRect">
            <a:avLst>
              <a:gd name="adj" fmla="val 5303"/>
            </a:avLst>
          </a:prstGeom>
          <a:solidFill>
            <a:srgbClr val="1C1C2B"/>
          </a:solidFill>
          <a:ln w="12700">
            <a:solidFill>
              <a:srgbClr val="3A3A52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17720" y="2304288"/>
            <a:ext cx="548640" cy="548640"/>
          </a:xfrm>
          <a:prstGeom prst="ellipse">
            <a:avLst/>
          </a:prstGeom>
          <a:solidFill>
            <a:srgbClr val="D4A85A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6826" y="2463394"/>
            <a:ext cx="230429" cy="23042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76088" y="22128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E7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버추얼 휴먼 대화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276088" y="2578608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B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명화 본인과 작품·시대·작가를 직접 묻고 답함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083296" y="2011680"/>
            <a:ext cx="3520440" cy="1207008"/>
          </a:xfrm>
          <a:prstGeom prst="roundRect">
            <a:avLst>
              <a:gd name="adj" fmla="val 5303"/>
            </a:avLst>
          </a:prstGeom>
          <a:solidFill>
            <a:srgbClr val="1C1C2B"/>
          </a:solidFill>
          <a:ln w="12700">
            <a:solidFill>
              <a:srgbClr val="3A3A52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39328" y="2304288"/>
            <a:ext cx="548640" cy="548640"/>
          </a:xfrm>
          <a:prstGeom prst="ellipse">
            <a:avLst/>
          </a:prstGeom>
          <a:solidFill>
            <a:srgbClr val="D4A85A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8434" y="2463394"/>
            <a:ext cx="230429" cy="23042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97696" y="22128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E7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동적 퀴즈 봉인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997696" y="2578608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B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대화 내용 기반 문제 → 정답 시 봉인, 오답 시 재도전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40080" y="3383280"/>
            <a:ext cx="3520440" cy="1207008"/>
          </a:xfrm>
          <a:prstGeom prst="roundRect">
            <a:avLst>
              <a:gd name="adj" fmla="val 5303"/>
            </a:avLst>
          </a:prstGeom>
          <a:solidFill>
            <a:srgbClr val="1C1C2B"/>
          </a:solidFill>
          <a:ln w="12700">
            <a:solidFill>
              <a:srgbClr val="3A3A52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96112" y="3675888"/>
            <a:ext cx="548640" cy="548640"/>
          </a:xfrm>
          <a:prstGeom prst="ellipse">
            <a:avLst/>
          </a:prstGeom>
          <a:solidFill>
            <a:srgbClr val="D4A85A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5218" y="3834994"/>
            <a:ext cx="230429" cy="23042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54480" y="35844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E7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도감 · 진척 저장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1554480" y="3950208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B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봉인한 명화와 학습 통계를 서버에 기록·복원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361688" y="3383280"/>
            <a:ext cx="3520440" cy="1207008"/>
          </a:xfrm>
          <a:prstGeom prst="roundRect">
            <a:avLst>
              <a:gd name="adj" fmla="val 5303"/>
            </a:avLst>
          </a:prstGeom>
          <a:solidFill>
            <a:srgbClr val="1C1C2B"/>
          </a:solidFill>
          <a:ln w="12700">
            <a:solidFill>
              <a:srgbClr val="3A3A52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17720" y="3675888"/>
            <a:ext cx="548640" cy="548640"/>
          </a:xfrm>
          <a:prstGeom prst="ellipse">
            <a:avLst/>
          </a:prstGeom>
          <a:solidFill>
            <a:srgbClr val="D4A85A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6826" y="3834994"/>
            <a:ext cx="230429" cy="230429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276088" y="35844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E7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디제시스 UI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5276088" y="3950208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B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튜토리얼 없이 환경이 목표를 전달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083296" y="3383280"/>
            <a:ext cx="3520440" cy="1207008"/>
          </a:xfrm>
          <a:prstGeom prst="roundRect">
            <a:avLst>
              <a:gd name="adj" fmla="val 5303"/>
            </a:avLst>
          </a:prstGeom>
          <a:solidFill>
            <a:srgbClr val="1C1C2B"/>
          </a:solidFill>
          <a:ln w="12700">
            <a:solidFill>
              <a:srgbClr val="3A3A52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39328" y="3675888"/>
            <a:ext cx="548640" cy="548640"/>
          </a:xfrm>
          <a:prstGeom prst="ellipse">
            <a:avLst/>
          </a:prstGeom>
          <a:solidFill>
            <a:srgbClr val="D4A85A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8434" y="3834994"/>
            <a:ext cx="230429" cy="230429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997696" y="35844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E7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스탬프 수집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8997696" y="3950208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B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3종(모나리자·뭉크·반 고흐) 봉인 시 교실 복귀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640080" y="4983480"/>
            <a:ext cx="10881360" cy="1234440"/>
          </a:xfrm>
          <a:prstGeom prst="roundRect">
            <a:avLst>
              <a:gd name="adj" fmla="val 5185"/>
            </a:avLst>
          </a:prstGeom>
          <a:solidFill>
            <a:srgbClr val="242438"/>
          </a:solidFill>
          <a:ln w="12700">
            <a:solidFill>
              <a:srgbClr val="3A3A52"/>
            </a:solidFill>
            <a:prstDash val="solid"/>
          </a:ln>
        </p:spPr>
      </p:sp>
      <p:sp>
        <p:nvSpPr>
          <p:cNvPr id="35" name="Text 27"/>
          <p:cNvSpPr/>
          <p:nvPr/>
        </p:nvSpPr>
        <p:spPr>
          <a:xfrm>
            <a:off x="914400" y="5166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 환경 · 언어</a:t>
            </a:r>
            <a:endParaRPr lang="en-US" sz="1300" dirty="0"/>
          </a:p>
        </p:txBody>
      </p:sp>
      <p:sp>
        <p:nvSpPr>
          <p:cNvPr id="36" name="Text 28"/>
          <p:cNvSpPr/>
          <p:nvPr/>
        </p:nvSpPr>
        <p:spPr>
          <a:xfrm>
            <a:off x="914400" y="55595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FD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엔진</a:t>
            </a:r>
            <a:endParaRPr lang="en-US" sz="1100" dirty="0"/>
          </a:p>
        </p:txBody>
      </p:sp>
      <p:sp>
        <p:nvSpPr>
          <p:cNvPr id="37" name="Text 29"/>
          <p:cNvSpPr/>
          <p:nvPr/>
        </p:nvSpPr>
        <p:spPr>
          <a:xfrm>
            <a:off x="914400" y="5815584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DE7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Unreal Engine 5 (C++ / 블루프린트)</a:t>
            </a:r>
            <a:endParaRPr lang="en-US" sz="1150" dirty="0"/>
          </a:p>
        </p:txBody>
      </p:sp>
      <p:sp>
        <p:nvSpPr>
          <p:cNvPr id="38" name="Text 30"/>
          <p:cNvSpPr/>
          <p:nvPr/>
        </p:nvSpPr>
        <p:spPr>
          <a:xfrm>
            <a:off x="3611880" y="55595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FD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1100" dirty="0"/>
          </a:p>
        </p:txBody>
      </p:sp>
      <p:sp>
        <p:nvSpPr>
          <p:cNvPr id="39" name="Text 31"/>
          <p:cNvSpPr/>
          <p:nvPr/>
        </p:nvSpPr>
        <p:spPr>
          <a:xfrm>
            <a:off x="3611880" y="5815584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DE7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생성형 LLM API · TTS</a:t>
            </a:r>
            <a:endParaRPr lang="en-US" sz="1150" dirty="0"/>
          </a:p>
        </p:txBody>
      </p:sp>
      <p:sp>
        <p:nvSpPr>
          <p:cNvPr id="40" name="Text 32"/>
          <p:cNvSpPr/>
          <p:nvPr/>
        </p:nvSpPr>
        <p:spPr>
          <a:xfrm>
            <a:off x="6309360" y="55595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FD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백엔드</a:t>
            </a:r>
            <a:endParaRPr lang="en-US" sz="1100" dirty="0"/>
          </a:p>
        </p:txBody>
      </p:sp>
      <p:sp>
        <p:nvSpPr>
          <p:cNvPr id="41" name="Text 33"/>
          <p:cNvSpPr/>
          <p:nvPr/>
        </p:nvSpPr>
        <p:spPr>
          <a:xfrm>
            <a:off x="6309360" y="5815584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DE7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서버 · DB</a:t>
            </a:r>
            <a:endParaRPr lang="en-US" sz="1150" dirty="0"/>
          </a:p>
        </p:txBody>
      </p:sp>
      <p:sp>
        <p:nvSpPr>
          <p:cNvPr id="42" name="Text 34"/>
          <p:cNvSpPr/>
          <p:nvPr/>
        </p:nvSpPr>
        <p:spPr>
          <a:xfrm>
            <a:off x="9006840" y="55595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FD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플랫폼</a:t>
            </a:r>
            <a:endParaRPr lang="en-US" sz="1100" dirty="0"/>
          </a:p>
        </p:txBody>
      </p:sp>
      <p:sp>
        <p:nvSpPr>
          <p:cNvPr id="43" name="Text 35"/>
          <p:cNvSpPr/>
          <p:nvPr/>
        </p:nvSpPr>
        <p:spPr>
          <a:xfrm>
            <a:off x="9006840" y="5815584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DE7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 · 1인칭</a:t>
            </a:r>
            <a:endParaRPr lang="en-US" sz="1150" dirty="0"/>
          </a:p>
        </p:txBody>
      </p:sp>
      <p:sp>
        <p:nvSpPr>
          <p:cNvPr id="44" name="Text 36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B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100" dirty="0"/>
          </a:p>
        </p:txBody>
      </p:sp>
      <p:sp>
        <p:nvSpPr>
          <p:cNvPr id="45" name="Text 37"/>
          <p:cNvSpPr/>
          <p:nvPr/>
        </p:nvSpPr>
        <p:spPr>
          <a:xfrm>
            <a:off x="54864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B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UNFRAMED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12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4A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GENERATIVE AI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DE7D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생성형 AI 활용 분야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6583680" cy="1828800"/>
          </a:xfrm>
          <a:prstGeom prst="roundRect">
            <a:avLst>
              <a:gd name="adj" fmla="val 4000"/>
            </a:avLst>
          </a:prstGeom>
          <a:solidFill>
            <a:srgbClr val="2A2A44"/>
          </a:solidFill>
          <a:ln w="16510">
            <a:solidFill>
              <a:srgbClr val="6FD6C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86000"/>
            <a:ext cx="603504" cy="603504"/>
          </a:xfrm>
          <a:prstGeom prst="ellipse">
            <a:avLst/>
          </a:prstGeom>
          <a:solidFill>
            <a:srgbClr val="6FD6C9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416" y="2461016"/>
            <a:ext cx="253472" cy="253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304288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C8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명화 페르소나 대화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14400" y="2880360"/>
            <a:ext cx="6126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DE7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프롬프트로 각 명화를 가둔다: “너는 모나리자다. 작품·시대·작가만 이야기한다.” 작품 관련 질문엔 페르소나로 답하고, 그 외엔 자연스럽게 작품으로 유도.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080" y="4023360"/>
            <a:ext cx="6583680" cy="1828800"/>
          </a:xfrm>
          <a:prstGeom prst="roundRect">
            <a:avLst>
              <a:gd name="adj" fmla="val 4000"/>
            </a:avLst>
          </a:prstGeom>
          <a:solidFill>
            <a:srgbClr val="2A2A44"/>
          </a:solidFill>
          <a:ln w="16510">
            <a:solidFill>
              <a:srgbClr val="6FD6C9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4297680"/>
            <a:ext cx="603504" cy="603504"/>
          </a:xfrm>
          <a:prstGeom prst="ellipse">
            <a:avLst/>
          </a:prstGeom>
          <a:solidFill>
            <a:srgbClr val="6FD6C9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416" y="4472696"/>
            <a:ext cx="253472" cy="253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91640" y="4315968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C8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대화 기반 퀴즈 생성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914400" y="4892040"/>
            <a:ext cx="6126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DE7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유저가 나눈 대화 맥락을 바탕으로 그 자리에서 쉬운 퀴즈를 생성. 정답 시 봉인 완성 — AI가 학습-평가 루프의 관문이 된다.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7543800" y="2011680"/>
            <a:ext cx="3977640" cy="3840480"/>
          </a:xfrm>
          <a:prstGeom prst="roundRect">
            <a:avLst>
              <a:gd name="adj" fmla="val 1905"/>
            </a:avLst>
          </a:prstGeom>
          <a:solidFill>
            <a:srgbClr val="242438"/>
          </a:solidFill>
          <a:ln w="19050">
            <a:solidFill>
              <a:srgbClr val="D4A85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863840" y="2331720"/>
            <a:ext cx="566928" cy="566928"/>
          </a:xfrm>
          <a:prstGeom prst="ellipse">
            <a:avLst/>
          </a:prstGeom>
          <a:solidFill>
            <a:srgbClr val="D4A85A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8249" y="2496129"/>
            <a:ext cx="238110" cy="23811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41080" y="23957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차별점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7863840" y="306324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i="1" dirty="0">
                <a:solidFill>
                  <a:srgbClr val="EDE7D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대화는 ‘있어도 그만’인 장식이 아니다.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7863840" y="3886200"/>
            <a:ext cx="3337560" cy="0"/>
          </a:xfrm>
          <a:prstGeom prst="line">
            <a:avLst/>
          </a:prstGeom>
          <a:noFill/>
          <a:ln w="12700">
            <a:solidFill>
              <a:srgbClr val="3A3A52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7863840" y="4069080"/>
            <a:ext cx="33832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6FD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대화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9B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해야 </a:t>
            </a:r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6FD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퀴즈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9B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 나오고,
</a:t>
            </a:r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6FD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퀴즈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9B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를 풀어야 </a:t>
            </a:r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6FD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봉인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9B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된다.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9B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생성형 AI가 게임 진행의 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E8C8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필수 관문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9B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으로 작동한다.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B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54864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B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UNFRAMED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2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4A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&amp; SCOPE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DE7D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기대효과 · 활용분야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1C1C2B"/>
          </a:solidFill>
          <a:ln w="12700">
            <a:solidFill>
              <a:srgbClr val="3A3A52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86000"/>
            <a:ext cx="603504" cy="603504"/>
          </a:xfrm>
          <a:prstGeom prst="ellipse">
            <a:avLst/>
          </a:prstGeom>
          <a:solidFill>
            <a:srgbClr val="D4A85A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416" y="2461016"/>
            <a:ext cx="253472" cy="253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017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E7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교육 콘텐츠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340156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B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미술관·학교의 능동적 미술 교육 도구로 활용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61688" y="201168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1C1C2B"/>
          </a:solidFill>
          <a:ln w="12700">
            <a:solidFill>
              <a:srgbClr val="3A3A52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36008" y="2286000"/>
            <a:ext cx="603504" cy="603504"/>
          </a:xfrm>
          <a:prstGeom prst="ellipse">
            <a:avLst/>
          </a:prstGeom>
          <a:solidFill>
            <a:srgbClr val="D4A85A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1024" y="2461016"/>
            <a:ext cx="253472" cy="253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36008" y="3017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E7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무한 확장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636008" y="340156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B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명화 에셋만 교체하면 작가·사조·시대 무한 확장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83296" y="201168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1C1C2B"/>
          </a:solidFill>
          <a:ln w="12700">
            <a:solidFill>
              <a:srgbClr val="3A3A52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57616" y="2286000"/>
            <a:ext cx="603504" cy="603504"/>
          </a:xfrm>
          <a:prstGeom prst="ellipse">
            <a:avLst/>
          </a:prstGeom>
          <a:solidFill>
            <a:srgbClr val="D4A85A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2632" y="2461016"/>
            <a:ext cx="253472" cy="253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7616" y="3017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E7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현장 적용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357616" y="340156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B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전시 연계 체험형 콘텐츠 · 에듀테크 사업화 가능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40080" y="4114800"/>
            <a:ext cx="10881360" cy="2103120"/>
          </a:xfrm>
          <a:prstGeom prst="roundRect">
            <a:avLst>
              <a:gd name="adj" fmla="val 3478"/>
            </a:avLst>
          </a:prstGeom>
          <a:solidFill>
            <a:srgbClr val="242438"/>
          </a:solidFill>
          <a:ln w="17780">
            <a:solidFill>
              <a:srgbClr val="D4A85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2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14400" y="4389120"/>
            <a:ext cx="548640" cy="548640"/>
          </a:xfrm>
          <a:prstGeom prst="ellipse">
            <a:avLst/>
          </a:prstGeom>
          <a:solidFill>
            <a:srgbClr val="D4A85A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3506" y="4548226"/>
            <a:ext cx="230429" cy="23042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45920" y="446227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4A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 범위 (3일 MVP)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914400" y="502920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EDE7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모나리자 1종 풀 동작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9B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탐색·포획·설명·대화·퀴즈·봉인·DB저장 전 과정 완성. 뭉크·반 고흐는 </a:t>
            </a:r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6FD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에셋 교체로 복제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9B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야망과 현실을 분리해 데모 안정성을 확보한다.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914400" y="571500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B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저작권: 모나리자(다빈치)·뭉크·반 고흐 모두 퍼블릭 도메인 — 자유 활용 가능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B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54864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B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UNFRAMED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12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914400"/>
            <a:ext cx="2011680" cy="2560320"/>
          </a:xfrm>
          <a:prstGeom prst="rect">
            <a:avLst/>
          </a:prstGeom>
          <a:solidFill>
            <a:srgbClr val="12121C">
              <a:alpha val="0"/>
            </a:srgbClr>
          </a:solidFill>
          <a:ln w="19050">
            <a:solidFill>
              <a:srgbClr val="3A3A5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26880" y="3291840"/>
            <a:ext cx="2011680" cy="2560320"/>
          </a:xfrm>
          <a:prstGeom prst="rect">
            <a:avLst/>
          </a:prstGeom>
          <a:solidFill>
            <a:srgbClr val="12121C">
              <a:alpha val="0"/>
            </a:srgbClr>
          </a:solidFill>
          <a:ln w="19050">
            <a:solidFill>
              <a:srgbClr val="3A3A5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04120" y="1051560"/>
            <a:ext cx="777240" cy="777240"/>
          </a:xfrm>
          <a:prstGeom prst="ellipse">
            <a:avLst/>
          </a:prstGeom>
          <a:solidFill>
            <a:srgbClr val="242438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29520" y="1276960"/>
            <a:ext cx="326441" cy="32644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228600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spc="200" kern="0" dirty="0">
                <a:solidFill>
                  <a:srgbClr val="EDE7D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UNFRAMED</a:t>
            </a:r>
            <a:endParaRPr lang="en-US" sz="7200" dirty="0"/>
          </a:p>
        </p:txBody>
      </p:sp>
      <p:sp>
        <p:nvSpPr>
          <p:cNvPr id="7" name="Text 4"/>
          <p:cNvSpPr/>
          <p:nvPr/>
        </p:nvSpPr>
        <p:spPr>
          <a:xfrm>
            <a:off x="914400" y="35204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E8C8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틀을 벗어난 명화를, 다시 틀로.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B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설명하지 않는 미술관에서, 유저는 스스로 배운다.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14400" y="5669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4A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Unframed · 12팀 · 2026 미드나잇 캠프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B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4864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B96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UNFRAMED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Unframed — 기획안</dc:title>
  <dc:subject>PptxGenJS Presentation</dc:subject>
  <dc:creator>Team Unframed</dc:creator>
  <cp:lastModifiedBy>Team Unframed</cp:lastModifiedBy>
  <cp:revision>1</cp:revision>
  <dcterms:created xsi:type="dcterms:W3CDTF">2026-06-17T04:38:10Z</dcterms:created>
  <dcterms:modified xsi:type="dcterms:W3CDTF">2026-06-17T04:38:10Z</dcterms:modified>
</cp:coreProperties>
</file>